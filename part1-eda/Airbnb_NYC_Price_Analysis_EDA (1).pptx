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A5F"/>
              </a:solidFill>
              <a:ln w="9525" cap="flat">
                <a:solidFill>
                  <a:srgbClr val="222B33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3A4855"/>
              </a:solidFill>
              <a:ln w="9525" cap="flat">
                <a:solidFill>
                  <a:srgbClr val="222B33"/>
                </a:solidFill>
                <a:prstDash val="solid"/>
                <a:round/>
              </a:ln>
              <a:effectLst/>
            </c:spPr>
          </c:dPt>
          <c:cat>
            <c:strRef>
              <c:f>Sheet1!$A$2:$A$3</c:f>
              <c:strCache>
                <c:ptCount val="2"/>
                <c:pt idx="0">
                  <c:v>Manhattan</c:v>
                </c:pt>
                <c:pt idx="1">
                  <c:v>Other boroughs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44.2</c:v>
                </c:pt>
                <c:pt idx="1">
                  <c:v>55.8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1643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slide" Target="slide2.xm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Shailesh-Pawar-18" TargetMode="External"/><Relationship Id="rId5" Type="http://schemas.openxmlformats.org/officeDocument/2006/relationships/image" Target="../media/image1.png"/><Relationship Id="rId4" Type="http://schemas.openxmlformats.org/officeDocument/2006/relationships/hyperlink" Target="https://linkedin.com/in/shaileshpawar-cse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" Target="slide1.xml"/><Relationship Id="rId7" Type="http://schemas.openxmlformats.org/officeDocument/2006/relationships/hyperlink" Target="https://github.com/Shailesh-Pawar-18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linkedin.com/in/shaileshpawar-cse" TargetMode="External"/><Relationship Id="rId4" Type="http://schemas.openxmlformats.org/officeDocument/2006/relationships/slide" Target="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023360" cy="4023360"/>
          </a:xfrm>
          <a:prstGeom prst="ellipse">
            <a:avLst/>
          </a:prstGeom>
          <a:solidFill>
            <a:srgbClr val="2E3A45"/>
          </a:solidFill>
          <a:ln w="12700">
            <a:solidFill>
              <a:srgbClr val="2E3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5120640"/>
            <a:ext cx="2560320" cy="2560320"/>
          </a:xfrm>
          <a:prstGeom prst="ellipse">
            <a:avLst/>
          </a:prstGeom>
          <a:solidFill>
            <a:srgbClr val="3D3F46"/>
          </a:solidFill>
          <a:ln w="12700">
            <a:solidFill>
              <a:srgbClr val="3D3F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9728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Airbnb NYC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Analysis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731520" cy="4572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Listings to Pricing Insight - A Full EDA Journey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840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3840480"/>
            <a:ext cx="2468880" cy="411480"/>
          </a:xfrm>
          <a:prstGeom prst="roundRect">
            <a:avLst>
              <a:gd name="adj" fmla="val 48889"/>
            </a:avLst>
          </a:prstGeom>
          <a:solidFill>
            <a:srgbClr val="FF5A5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SHAILESH PAWAR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480560"/>
            <a:ext cx="2194560" cy="411480"/>
          </a:xfrm>
          <a:prstGeom prst="roundRect">
            <a:avLst>
              <a:gd name="adj" fmla="val 48889"/>
            </a:avLst>
          </a:prstGeom>
          <a:solidFill>
            <a:srgbClr val="222B33"/>
          </a:solidFill>
          <a:ln w="12700">
            <a:solidFill>
              <a:srgbClr val="5EE6D8"/>
            </a:solidFill>
            <a:prstDash val="solid"/>
          </a:ln>
        </p:spPr>
      </p:sp>
      <p:sp>
        <p:nvSpPr>
          <p:cNvPr id="11" name="Text 9">
            <a:hlinkClick r:id="rId3" action="ppaction://hlinksldjump"/>
          </p:cNvPr>
          <p:cNvSpPr txBox="1"/>
          <p:nvPr/>
        </p:nvSpPr>
        <p:spPr>
          <a:xfrm>
            <a:off x="731520" y="4480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Start Presentation  →</a:t>
            </a:r>
            <a:endParaRPr lang="en-US" sz="1200" dirty="0"/>
          </a:p>
        </p:txBody>
      </p:sp>
      <p:pic>
        <p:nvPicPr>
          <p:cNvPr id="12" name="Image 0" descr="preencoded.png">
            <a:hlinkClick r:id="rId4" tooltip="https://linkedin.com/in/shaileshpawar-cs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4498848"/>
            <a:ext cx="365760" cy="365760"/>
          </a:xfrm>
          <a:prstGeom prst="rect">
            <a:avLst/>
          </a:prstGeom>
        </p:spPr>
      </p:pic>
      <p:sp>
        <p:nvSpPr>
          <p:cNvPr id="13" name="Text 10">
            <a:hlinkClick r:id="rId4" tooltip="https://linkedin.com/in/shaileshpawar-cse"/>
          </p:cNvPr>
          <p:cNvSpPr txBox="1"/>
          <p:nvPr/>
        </p:nvSpPr>
        <p:spPr>
          <a:xfrm>
            <a:off x="3657600" y="44988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5EE6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tooltip="https://linkedin.com/in/shaileshpawar-cs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n-US" sz="1200" dirty="0"/>
          </a:p>
        </p:txBody>
      </p:sp>
      <p:pic>
        <p:nvPicPr>
          <p:cNvPr id="14" name="Image 1" descr="preencoded.png">
            <a:hlinkClick r:id="rId6" tooltip="https://github.com/Shailesh-Pawar-1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498848"/>
            <a:ext cx="365760" cy="365760"/>
          </a:xfrm>
          <a:prstGeom prst="rect">
            <a:avLst/>
          </a:prstGeom>
        </p:spPr>
      </p:pic>
      <p:sp>
        <p:nvSpPr>
          <p:cNvPr id="15" name="Text 11">
            <a:hlinkClick r:id="rId6" tooltip="https://github.com/Shailesh-Pawar-18"/>
          </p:cNvPr>
          <p:cNvSpPr txBox="1"/>
          <p:nvPr/>
        </p:nvSpPr>
        <p:spPr>
          <a:xfrm>
            <a:off x="5212080" y="44988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5EE6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tooltip="https://github.com/Shailesh-Pawar-18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31520" y="534924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2E3A45"/>
          </a:solidFill>
          <a:ln w="9525">
            <a:solidFill>
              <a:srgbClr val="3A485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31520" y="5394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5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48,895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731520" y="5870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Listings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514600" y="534924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2E3A45"/>
          </a:solidFill>
          <a:ln w="9525">
            <a:solidFill>
              <a:srgbClr val="3A485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2514600" y="5394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5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900" dirty="0"/>
          </a:p>
        </p:txBody>
      </p:sp>
      <p:sp>
        <p:nvSpPr>
          <p:cNvPr id="21" name="Text 17"/>
          <p:cNvSpPr txBox="1"/>
          <p:nvPr/>
        </p:nvSpPr>
        <p:spPr>
          <a:xfrm>
            <a:off x="2514600" y="5870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297680" y="534924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2E3A45"/>
          </a:solidFill>
          <a:ln w="9525">
            <a:solidFill>
              <a:srgbClr val="3A4855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297680" y="5394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5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264</a:t>
            </a:r>
            <a:endParaRPr lang="en-US" sz="1900" dirty="0"/>
          </a:p>
        </p:txBody>
      </p:sp>
      <p:sp>
        <p:nvSpPr>
          <p:cNvPr id="24" name="Text 20"/>
          <p:cNvSpPr txBox="1"/>
          <p:nvPr/>
        </p:nvSpPr>
        <p:spPr>
          <a:xfrm>
            <a:off x="4297680" y="5870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Removed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080760" y="534924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2E3A45"/>
          </a:solidFill>
          <a:ln w="9525">
            <a:solidFill>
              <a:srgbClr val="3A485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080760" y="5394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5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$105</a:t>
            </a:r>
            <a:endParaRPr lang="en-US" sz="1900" dirty="0"/>
          </a:p>
        </p:txBody>
      </p:sp>
      <p:sp>
        <p:nvSpPr>
          <p:cNvPr id="27" name="Text 23"/>
          <p:cNvSpPr txBox="1"/>
          <p:nvPr/>
        </p:nvSpPr>
        <p:spPr>
          <a:xfrm>
            <a:off x="6080760" y="5870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Price</a:t>
            </a:r>
            <a:endParaRPr lang="en-US" sz="11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7772400" y="1371600"/>
          <a:ext cx="38404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412480" y="2880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44.2%</a:t>
            </a:r>
            <a:endParaRPr lang="en-US" sz="3400" dirty="0"/>
          </a:p>
        </p:txBody>
      </p:sp>
      <p:sp>
        <p:nvSpPr>
          <p:cNvPr id="30" name="Text 25"/>
          <p:cNvSpPr txBox="1"/>
          <p:nvPr/>
        </p:nvSpPr>
        <p:spPr>
          <a:xfrm>
            <a:off x="841248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listings in Manhattan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10881360" y="1737360"/>
            <a:ext cx="457200" cy="457200"/>
          </a:xfrm>
          <a:prstGeom prst="ellipse">
            <a:avLst/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108813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11155680" y="3931920"/>
            <a:ext cx="457200" cy="457200"/>
          </a:xfrm>
          <a:prstGeom prst="ellipse">
            <a:avLst/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111556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10241280" y="4754880"/>
            <a:ext cx="457200" cy="457200"/>
          </a:xfrm>
          <a:prstGeom prst="ellipse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1024128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NYC PRICE ANALYSIS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>
            <a:solidFill>
              <a:srgbClr val="E6DCD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400"/>
              </a:spcAft>
            </a:pPr>
            <a:r>
              <a:rPr lang="en-US" dirty="0">
                <a:solidFill>
                  <a:srgbClr val="484848"/>
                </a:solidFill>
              </a:rPr>
              <a:t>•  Airbnb hosts often struggle to price listings correctly</a:t>
            </a:r>
          </a:p>
          <a:p>
            <a:pPr>
              <a:spcAft>
                <a:spcPts val="1400"/>
              </a:spcAft>
            </a:pPr>
            <a:r>
              <a:rPr lang="en-US" dirty="0">
                <a:solidFill>
                  <a:srgbClr val="484848"/>
                </a:solidFill>
              </a:rPr>
              <a:t>•  Underpricing leaves revenue on the table; overpricing drives away bookings</a:t>
            </a:r>
          </a:p>
          <a:p>
            <a:pPr>
              <a:spcAft>
                <a:spcPts val="1400"/>
              </a:spcAft>
            </a:pPr>
            <a:r>
              <a:rPr lang="en-US" dirty="0">
                <a:solidFill>
                  <a:srgbClr val="484848"/>
                </a:solidFill>
              </a:rPr>
              <a:t>•  Raw listing data is messy — missing values, invalid entries, extreme outliers</a:t>
            </a:r>
          </a:p>
          <a:p>
            <a:pPr>
              <a:spcAft>
                <a:spcPts val="1400"/>
              </a:spcAft>
            </a:pPr>
            <a:r>
              <a:rPr lang="en-US" dirty="0">
                <a:solidFill>
                  <a:srgbClr val="484848"/>
                </a:solidFill>
              </a:rPr>
              <a:t>•  Without data-driven insight, pricing decisions rely on guesswork</a:t>
            </a:r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>
            <a:solidFill>
              <a:srgbClr val="E6DCD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92240" y="1783080"/>
            <a:ext cx="457200" cy="457200"/>
          </a:xfrm>
          <a:prstGeom prst="ellipse">
            <a:avLst/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492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56032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400"/>
              </a:spcAft>
            </a:pPr>
            <a:r>
              <a:rPr lang="en-US" dirty="0">
                <a:solidFill>
                  <a:srgbClr val="484848"/>
                </a:solidFill>
              </a:rPr>
              <a:t>•  Clean a real 48,895-listing NYC Airbnb dataset end-to-end</a:t>
            </a:r>
          </a:p>
          <a:p>
            <a:pPr>
              <a:spcAft>
                <a:spcPts val="1400"/>
              </a:spcAft>
            </a:pPr>
            <a:r>
              <a:rPr lang="en-US" dirty="0">
                <a:solidFill>
                  <a:srgbClr val="484848"/>
                </a:solidFill>
              </a:rPr>
              <a:t>•  Uncover true pricing drivers — location, room type, and their interaction</a:t>
            </a:r>
          </a:p>
          <a:p>
            <a:pPr>
              <a:spcAft>
                <a:spcPts val="1400"/>
              </a:spcAft>
            </a:pPr>
            <a:r>
              <a:rPr lang="en-US" dirty="0">
                <a:solidFill>
                  <a:srgbClr val="484848"/>
                </a:solidFill>
              </a:rPr>
              <a:t>•  Build a solid, insight-rich foundation for a data-driven price recommendation model</a:t>
            </a:r>
          </a:p>
          <a:p>
            <a:pPr>
              <a:spcAft>
                <a:spcPts val="1400"/>
              </a:spcAft>
            </a:pPr>
            <a:r>
              <a:rPr lang="en-US" dirty="0">
                <a:solidFill>
                  <a:srgbClr val="484848"/>
                </a:solidFill>
              </a:rPr>
              <a:t>•  Set direction for feature engineering and model selection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NYC PRICE ANALYSIS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108960" cy="4663440"/>
          </a:xfrm>
          <a:prstGeom prst="roundRect">
            <a:avLst>
              <a:gd name="adj" fmla="val 2353"/>
            </a:avLst>
          </a:prstGeom>
          <a:solidFill>
            <a:srgbClr val="222B33"/>
          </a:solidFill>
          <a:ln w="12700">
            <a:solidFill>
              <a:srgbClr val="222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91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NYC Airbnb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Listings 2019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5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48,895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listings collected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40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A6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89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(1 is the target)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983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5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48,631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532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 cleaning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6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Numerical Columns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023360" y="1993392"/>
            <a:ext cx="64008" cy="502920"/>
          </a:xfrm>
          <a:prstGeom prst="rect">
            <a:avLst/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0624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price in US dollars (target)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23360" y="2706624"/>
            <a:ext cx="64008" cy="502920"/>
          </a:xfrm>
          <a:prstGeom prst="rect">
            <a:avLst/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06240" y="2679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minimum_nights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2953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stay required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23360" y="3419856"/>
            <a:ext cx="64008" cy="502920"/>
          </a:xfrm>
          <a:prstGeom prst="rect">
            <a:avLst/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06240" y="3392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number_of_reviews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3666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 received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023360" y="4133088"/>
            <a:ext cx="64008" cy="502920"/>
          </a:xfrm>
          <a:prstGeom prst="rect">
            <a:avLst/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06240" y="4105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availability_365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206240" y="43799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available per year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00100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Categorical Columns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01000" y="1993392"/>
            <a:ext cx="64008" cy="50292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8388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neighbourhood_group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183880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boroughs; plus 221 neighbourhoods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01000" y="2706624"/>
            <a:ext cx="64008" cy="50292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83880" y="2679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room_type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2953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home, private or shared room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01000" y="3419856"/>
            <a:ext cx="64008" cy="50292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183880" y="3392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host_name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183880" y="3666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and host text fields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01000" y="4133088"/>
            <a:ext cx="64008" cy="50292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183880" y="4105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last_review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183880" y="43799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the latest review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023360" y="4983480"/>
            <a:ext cx="7635240" cy="1143000"/>
          </a:xfrm>
          <a:prstGeom prst="roundRect">
            <a:avLst>
              <a:gd name="adj" fmla="val 4800"/>
            </a:avLst>
          </a:prstGeom>
          <a:solidFill>
            <a:srgbClr val="FFF0F0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251960" y="5074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Column: price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4251960" y="54406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price in US dollars, from $0 to $10,000 in the raw data. It drives every cleaning, EDA and modeling decision in this project.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Duplicate &amp; Missing Value Checks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were checked first (none found), then every column with missing values. Sample affected rows from the raw data: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NYC PRICE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222B33"/>
          </a:solidFill>
          <a:ln w="12700">
            <a:solidFill>
              <a:srgbClr val="222B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057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duplicate rows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64992" y="15544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222B33"/>
          </a:solidFill>
          <a:ln w="12700">
            <a:solidFill>
              <a:srgbClr val="222B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64992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364992" y="2057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with missing name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81344" y="15544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222B33"/>
          </a:solidFill>
          <a:ln w="12700">
            <a:solidFill>
              <a:srgbClr val="222B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81344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181344" y="2057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with missing host_name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97696" y="15544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222B33"/>
          </a:solidFill>
          <a:ln w="12700">
            <a:solidFill>
              <a:srgbClr val="222B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97696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10,052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997696" y="2057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with no review date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11109960" cy="256032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2011680"/>
                <a:gridCol w="1005840"/>
                <a:gridCol w="1554480"/>
                <a:gridCol w="1371600"/>
                <a:gridCol w="640080"/>
                <a:gridCol w="1097280"/>
                <a:gridCol w="160020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neighbourhood_group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room_type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last_review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reviews_per_month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2854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1615764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Manhattan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Entire home/apt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3703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2232600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Manhattan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Entire home/apt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2015-06-08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5775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4209595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Manhattan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Entire home/apt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2015-01-01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5975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4370230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Michaël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Manhattan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Entire home/apt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2016-01-02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VILLAGE OF HARLEM...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Elisabeth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Manhattan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room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Huge 2 BR Upper East  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Manhattan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Entire home/apt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9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548640" y="553212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4 of 16 listings with missing names (pink) and 2 of 10,052 listings with no review date (amber). Every missing review date belongs to a listing with zero reviews.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Column-by-Column Cleaning Summary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NYC PRICE ANALYSIS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4526280"/>
        </p:xfrm>
        <a:graphic>
          <a:graphicData uri="http://schemas.openxmlformats.org/drawingml/2006/table">
            <a:tbl>
              <a:tblPr/>
              <a:tblGrid>
                <a:gridCol w="2651760"/>
                <a:gridCol w="4572000"/>
                <a:gridCol w="388620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Identified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Cleaning 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exact duplicate 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action needed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missing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with "Unknown"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host_name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missing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with "Unknown"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listings at $0; 239 above $1,000 (max $10,000)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invalid and extreme-tail 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minimum_nights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1,250 nights; 14 listings above 365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rows above 365 nights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last_review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as text; 10,052 missing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Converted to datetime; gaps kept (no reviews)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reviews_per_month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10,052 missing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with 0 (zero reviews)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10 columns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host_id, boroughs, location, room_type, reviews, host listings, availability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ranges: no cleaning needed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vs. Cleaned Data - Side by Side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listings, shown before and after the cleaning pipeline. Highlighted cells mark the exact issues fixed.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NYC PRICE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pic>
        <p:nvPicPr>
          <p:cNvPr id="8" name="Image 0" descr="bef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9326880" cy="222935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429768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00A6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pic>
        <p:nvPicPr>
          <p:cNvPr id="10" name="Image 1" descr="af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663440"/>
            <a:ext cx="9326880" cy="156216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62362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names, host names and review rates are filled. The listing with a $0 price and the one with a 1,250-night minimum stay are removed, so AFTER shows 3 rows.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Univariate Analysis: Listing Mix &amp; Distributions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NYC PRICE ANALYSIS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6" name="Image 0" descr="nb_8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5120640" cy="20025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52160" y="1325880"/>
            <a:ext cx="5806440" cy="2002536"/>
          </a:xfrm>
          <a:prstGeom prst="roundRect">
            <a:avLst>
              <a:gd name="adj" fmla="val 2740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608076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tells us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6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08076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price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68680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$141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price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080760" y="26060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homes (52%) and private rooms (46%) dominate supply, and Manhattan and Brooklyn hold 85% of listings.</a:t>
            </a:r>
            <a:endParaRPr lang="en-US" sz="1250" dirty="0"/>
          </a:p>
        </p:txBody>
      </p:sp>
      <p:pic>
        <p:nvPicPr>
          <p:cNvPr id="14" name="Image 1" descr="nb_80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74720"/>
            <a:ext cx="5120640" cy="29260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852160" y="3474720"/>
            <a:ext cx="5806440" cy="2926080"/>
          </a:xfrm>
          <a:prstGeom prst="roundRect">
            <a:avLst>
              <a:gd name="adj" fmla="val 1875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080760" y="3611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080760" y="4023360"/>
            <a:ext cx="5349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right-skewed: a few luxury listings pull the mean above the median. Minimum nights, reviews and reviews per month are also strongly right-skewed, and availability spikes at 0 days (35.9% of listings).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Drivers: Room Type &amp; Borough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NYC PRICE ANALYSIS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by Room Type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by Borough</a:t>
            </a:r>
            <a:endParaRPr lang="en-US" sz="1300" dirty="0"/>
          </a:p>
        </p:txBody>
      </p:sp>
      <p:pic>
        <p:nvPicPr>
          <p:cNvPr id="8" name="Image 0" descr="nb_8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3200400" cy="19110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840480" y="1691640"/>
            <a:ext cx="2148840" cy="475488"/>
          </a:xfrm>
          <a:prstGeom prst="roundRect">
            <a:avLst>
              <a:gd name="adj" fmla="val 9615"/>
            </a:avLst>
          </a:prstGeom>
          <a:solidFill>
            <a:srgbClr val="FFF0F0"/>
          </a:solidFill>
          <a:ln w="19050">
            <a:solidFill>
              <a:srgbClr val="FF5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3977640" y="169164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home/apt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074920" y="169164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~$160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840480" y="2258568"/>
            <a:ext cx="2148840" cy="475488"/>
          </a:xfrm>
          <a:prstGeom prst="roundRect">
            <a:avLst>
              <a:gd name="adj" fmla="val 9615"/>
            </a:avLst>
          </a:prstGeom>
          <a:solidFill>
            <a:srgbClr val="F5F7F9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3977640" y="225856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room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074920" y="225856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A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~$70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840480" y="2825496"/>
            <a:ext cx="2148840" cy="475488"/>
          </a:xfrm>
          <a:prstGeom prst="roundRect">
            <a:avLst>
              <a:gd name="adj" fmla="val 9615"/>
            </a:avLst>
          </a:prstGeom>
          <a:solidFill>
            <a:srgbClr val="F5F7F9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 txBox="1"/>
          <p:nvPr/>
        </p:nvSpPr>
        <p:spPr>
          <a:xfrm>
            <a:off x="3977640" y="2825496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room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074920" y="282549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A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~$45</a:t>
            </a:r>
            <a:endParaRPr lang="en-US" sz="1300" dirty="0"/>
          </a:p>
        </p:txBody>
      </p:sp>
      <p:pic>
        <p:nvPicPr>
          <p:cNvPr id="18" name="Image 1" descr="nb_87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645920"/>
            <a:ext cx="3291840" cy="17830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9601200" y="1691640"/>
            <a:ext cx="2057400" cy="475488"/>
          </a:xfrm>
          <a:prstGeom prst="roundRect">
            <a:avLst>
              <a:gd name="adj" fmla="val 9615"/>
            </a:avLst>
          </a:prstGeom>
          <a:solidFill>
            <a:srgbClr val="FFF0F0"/>
          </a:solidFill>
          <a:ln w="19050">
            <a:solidFill>
              <a:srgbClr val="FF5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 txBox="1"/>
          <p:nvPr/>
        </p:nvSpPr>
        <p:spPr>
          <a:xfrm>
            <a:off x="9738360" y="169164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0744200" y="169164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~$149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9601200" y="2258568"/>
            <a:ext cx="2057400" cy="475488"/>
          </a:xfrm>
          <a:prstGeom prst="roundRect">
            <a:avLst>
              <a:gd name="adj" fmla="val 9615"/>
            </a:avLst>
          </a:prstGeom>
          <a:solidFill>
            <a:srgbClr val="F5F7F9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 txBox="1"/>
          <p:nvPr/>
        </p:nvSpPr>
        <p:spPr>
          <a:xfrm>
            <a:off x="9738360" y="2258568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0744200" y="225856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A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~$90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9601200" y="2825496"/>
            <a:ext cx="2057400" cy="475488"/>
          </a:xfrm>
          <a:prstGeom prst="roundRect">
            <a:avLst>
              <a:gd name="adj" fmla="val 9615"/>
            </a:avLst>
          </a:prstGeom>
          <a:solidFill>
            <a:srgbClr val="F5F7F9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/>
          <p:cNvSpPr txBox="1"/>
          <p:nvPr/>
        </p:nvSpPr>
        <p:spPr>
          <a:xfrm>
            <a:off x="9738360" y="2825496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10744200" y="282549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A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~$75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48640" y="406908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222B33"/>
          </a:solidFill>
          <a:ln w="12700">
            <a:solidFill>
              <a:srgbClr val="222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5"/>
          <p:cNvSpPr txBox="1"/>
          <p:nvPr/>
        </p:nvSpPr>
        <p:spPr>
          <a:xfrm>
            <a:off x="777240" y="42062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777240" y="4617720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homes have a median of $160, more than double a private room ($70) and over three times a shared room ($45). Room type is the strongest single price driver.</a:t>
            </a:r>
            <a:endParaRPr lang="en-US" sz="1350" dirty="0"/>
          </a:p>
        </p:txBody>
      </p:sp>
      <p:sp>
        <p:nvSpPr>
          <p:cNvPr id="31" name="Shape 27"/>
          <p:cNvSpPr/>
          <p:nvPr/>
        </p:nvSpPr>
        <p:spPr>
          <a:xfrm>
            <a:off x="6217920" y="406908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222B33"/>
          </a:solidFill>
          <a:ln w="12700">
            <a:solidFill>
              <a:srgbClr val="222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 txBox="1"/>
          <p:nvPr/>
        </p:nvSpPr>
        <p:spPr>
          <a:xfrm>
            <a:off x="6446520" y="42062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6446520" y="4617720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Manhattan’s median price ($149) is more than double the Bronx ($65). Location is the second major driver, and Manhattan listings are priced at a clear premium.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by Borough x Room Type &amp; Numeric Features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NYC PRICE ANALYSIS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by Borough and Room Type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Numeric Features vs. Price</a:t>
            </a:r>
            <a:endParaRPr lang="en-US" sz="1300" dirty="0"/>
          </a:p>
        </p:txBody>
      </p:sp>
      <p:pic>
        <p:nvPicPr>
          <p:cNvPr id="8" name="Image 0" descr="nb_9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3383280" cy="16824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023360" y="1600200"/>
            <a:ext cx="2011680" cy="475488"/>
          </a:xfrm>
          <a:prstGeom prst="roundRect">
            <a:avLst>
              <a:gd name="adj" fmla="val 9615"/>
            </a:avLst>
          </a:prstGeom>
          <a:solidFill>
            <a:srgbClr val="FFF0F0"/>
          </a:solidFill>
          <a:ln w="19050">
            <a:solidFill>
              <a:srgbClr val="FF5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4160520" y="160020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entire home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120640" y="160020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~$190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023360" y="2167128"/>
            <a:ext cx="2011680" cy="475488"/>
          </a:xfrm>
          <a:prstGeom prst="roundRect">
            <a:avLst>
              <a:gd name="adj" fmla="val 9615"/>
            </a:avLst>
          </a:prstGeom>
          <a:solidFill>
            <a:srgbClr val="F5F7F9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4160520" y="21671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 entire home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120640" y="216712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A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~$145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023360" y="2734056"/>
            <a:ext cx="2011680" cy="475488"/>
          </a:xfrm>
          <a:prstGeom prst="roundRect">
            <a:avLst>
              <a:gd name="adj" fmla="val 9615"/>
            </a:avLst>
          </a:prstGeom>
          <a:solidFill>
            <a:srgbClr val="F5F7F9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 txBox="1"/>
          <p:nvPr/>
        </p:nvSpPr>
        <p:spPr>
          <a:xfrm>
            <a:off x="4160520" y="273405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 entire home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120640" y="273405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A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~$120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023360" y="3300984"/>
            <a:ext cx="2011680" cy="475488"/>
          </a:xfrm>
          <a:prstGeom prst="roundRect">
            <a:avLst>
              <a:gd name="adj" fmla="val 9615"/>
            </a:avLst>
          </a:prstGeom>
          <a:solidFill>
            <a:srgbClr val="F5F7F9"/>
          </a:solidFill>
          <a:ln w="9525">
            <a:solidFill>
              <a:srgbClr val="E3E8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 txBox="1"/>
          <p:nvPr/>
        </p:nvSpPr>
        <p:spPr>
          <a:xfrm>
            <a:off x="4160520" y="330098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Bronx entire home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120640" y="3300984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A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~$100</a:t>
            </a:r>
            <a:endParaRPr lang="en-US" sz="1300" dirty="0"/>
          </a:p>
        </p:txBody>
      </p:sp>
      <p:pic>
        <p:nvPicPr>
          <p:cNvPr id="21" name="Image 1" descr="s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645920"/>
            <a:ext cx="2468880" cy="1747494"/>
          </a:xfrm>
          <a:prstGeom prst="rect">
            <a:avLst/>
          </a:prstGeom>
        </p:spPr>
      </p:pic>
      <p:pic>
        <p:nvPicPr>
          <p:cNvPr id="22" name="Image 2" descr="s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1645920"/>
            <a:ext cx="2468880" cy="174529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21792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vs. Price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886968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vs. Price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548640" y="406908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222B33"/>
          </a:solidFill>
          <a:ln w="12700">
            <a:solidFill>
              <a:srgbClr val="222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1"/>
          <p:cNvSpPr txBox="1"/>
          <p:nvPr/>
        </p:nvSpPr>
        <p:spPr>
          <a:xfrm>
            <a:off x="777240" y="42062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777240" y="4617720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homes cost the most in every borough, led by Manhattan ($190). The gap between room types is wide everywhere, so borough and room type work together.</a:t>
            </a:r>
            <a:endParaRPr lang="en-US" sz="1350" dirty="0"/>
          </a:p>
        </p:txBody>
      </p:sp>
      <p:sp>
        <p:nvSpPr>
          <p:cNvPr id="28" name="Shape 23"/>
          <p:cNvSpPr/>
          <p:nvPr/>
        </p:nvSpPr>
        <p:spPr>
          <a:xfrm>
            <a:off x="6217920" y="406908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222B33"/>
          </a:solidFill>
          <a:ln w="12700">
            <a:solidFill>
              <a:srgbClr val="222B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4"/>
          <p:cNvSpPr txBox="1"/>
          <p:nvPr/>
        </p:nvSpPr>
        <p:spPr>
          <a:xfrm>
            <a:off x="6446520" y="42062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6446520" y="4617720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reviews do not mean higher prices (r = -0.06), and availability is only weakly related (r = 0.12). Numeric features alone do not explain price.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Heatmap - Numeric Features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NYC PRICE ANALYSIS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6" name="Image 0" descr="nb_9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394960" cy="48554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09360" y="1371600"/>
            <a:ext cx="5349240" cy="4855464"/>
          </a:xfrm>
          <a:prstGeom prst="roundRect">
            <a:avLst>
              <a:gd name="adj" fmla="val 1130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3796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Heatmap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10312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longitude: the strongest link (r = -0.26). Prices fall as listings move east, away from Manhattan.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number_of_reviews and reviews_per_month: moderate positive correlation (0.59), expected since both measure review activity.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features show weak correlation with price (r below 0.15), so no single numeric column explains it.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2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023360" cy="4023360"/>
          </a:xfrm>
          <a:prstGeom prst="ellipse">
            <a:avLst/>
          </a:prstGeom>
          <a:solidFill>
            <a:srgbClr val="2E3A45"/>
          </a:solidFill>
          <a:ln w="12700">
            <a:solidFill>
              <a:srgbClr val="2E3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5120640"/>
            <a:ext cx="2560320" cy="2560320"/>
          </a:xfrm>
          <a:prstGeom prst="ellipse">
            <a:avLst/>
          </a:prstGeom>
          <a:solidFill>
            <a:srgbClr val="3D3F46"/>
          </a:solidFill>
          <a:ln w="12700">
            <a:solidFill>
              <a:srgbClr val="3D3F4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Premium Price Segment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the two strongest price drivers combine?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2E3A45"/>
          </a:solidFill>
          <a:ln w="9525">
            <a:solidFill>
              <a:srgbClr val="3A48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20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Borough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19202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2E3A45"/>
          </a:solidFill>
          <a:ln w="9525">
            <a:solidFill>
              <a:srgbClr val="3A48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920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21031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2103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4846320" cy="3017520"/>
          </a:xfrm>
          <a:prstGeom prst="roundRect">
            <a:avLst>
              <a:gd name="adj" fmla="val 2424"/>
            </a:avLst>
          </a:prstGeom>
          <a:solidFill>
            <a:srgbClr val="3A2E33"/>
          </a:solidFill>
          <a:ln w="22225">
            <a:solidFill>
              <a:srgbClr val="FF5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4290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5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$190</a:t>
            </a:r>
            <a:endParaRPr lang="en-US" sz="6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709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nightly price in the segment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20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$105 for all listings - about 1.8x the market median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0" y="3154680"/>
            <a:ext cx="5989320" cy="3017520"/>
          </a:xfrm>
          <a:prstGeom prst="roundRect">
            <a:avLst>
              <a:gd name="adj" fmla="val 2424"/>
            </a:avLst>
          </a:prstGeom>
          <a:solidFill>
            <a:srgbClr val="2E3A45"/>
          </a:solidFill>
          <a:ln w="9525">
            <a:solidFill>
              <a:srgbClr val="3A485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0" y="374904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segment holds 13,048 listings, 26.8% of the market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pay the most here, against only $30 for a Staten Island shared room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benchmark for hosts pricing premium listings: location plus room type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Concentration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listing counts into a clear picture of where supply and pricing power sit.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NYC PRICE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737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44.2%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60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listings are in Manhattan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291840"/>
            <a:ext cx="30175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$149 median price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6002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222B33"/>
          </a:solidFill>
          <a:ln w="12700">
            <a:solidFill>
              <a:srgbClr val="222B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737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85.4%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560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listings sit in Manhattan and Brooklyn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0" y="3291840"/>
            <a:ext cx="30175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$149 and $90 median prices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16002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1737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35.9%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560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listings are unavailable all year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321040" y="3291840"/>
            <a:ext cx="30175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2104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17,463 listings with 0 days available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11109960" cy="2103120"/>
          </a:xfrm>
          <a:prstGeom prst="roundRect">
            <a:avLst>
              <a:gd name="adj" fmla="val 2609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 of Listings by Borough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663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840480" y="4700016"/>
            <a:ext cx="4041648" cy="292608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73568" y="4663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44.2%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166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840480" y="5202936"/>
            <a:ext cx="3767328" cy="292608"/>
          </a:xfrm>
          <a:prstGeom prst="rect">
            <a:avLst/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99248" y="5166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41.2%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5669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Queens, Bronx and Staten Island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840480" y="5705856"/>
            <a:ext cx="1335024" cy="292608"/>
          </a:xfrm>
          <a:prstGeom prst="rect">
            <a:avLst/>
          </a:prstGeom>
          <a:solidFill>
            <a:srgbClr val="B8C2CC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266944" y="5669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412480" y="4572000"/>
            <a:ext cx="3017520" cy="1463040"/>
          </a:xfrm>
          <a:prstGeom prst="roundRect">
            <a:avLst>
              <a:gd name="adj" fmla="val 3750"/>
            </a:avLst>
          </a:prstGeom>
          <a:solidFill>
            <a:srgbClr val="222B33"/>
          </a:solidFill>
          <a:ln w="12700">
            <a:solidFill>
              <a:srgbClr val="222B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95360" y="461772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supply sits in two boroughs whose median prices differ by $59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2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 from EDA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2E3A45"/>
          </a:solidFill>
          <a:ln w="9525">
            <a:solidFill>
              <a:srgbClr val="3A48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384048" cy="384048"/>
          </a:xfrm>
          <a:prstGeom prst="ellipse">
            <a:avLst/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7724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002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nightly price is $105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is $141: a few luxury listings skew the distribution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2E3A45"/>
          </a:solidFill>
          <a:ln w="9525">
            <a:solidFill>
              <a:srgbClr val="3A48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400800" y="1664208"/>
            <a:ext cx="384048" cy="384048"/>
          </a:xfrm>
          <a:prstGeom prst="ellipse">
            <a:avLst/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16002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homes cost 2.3x private rooms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331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 is the strongest single price driver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2E3A45"/>
          </a:solidFill>
          <a:ln w="9525">
            <a:solidFill>
              <a:srgbClr val="3A48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77240" y="3264408"/>
            <a:ext cx="384048" cy="384048"/>
          </a:xfrm>
          <a:prstGeom prst="ellipse">
            <a:avLst/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77724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2004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is the priciest borough at $149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Bronx median is just $65: location drives a large gap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0632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2E3A45"/>
          </a:solidFill>
          <a:ln w="9525">
            <a:solidFill>
              <a:srgbClr val="3A48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400800" y="3264408"/>
            <a:ext cx="384048" cy="384048"/>
          </a:xfrm>
          <a:prstGeom prst="ellipse">
            <a:avLst/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40080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2004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and Brooklyn hold 85% of listings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is concentrated in two boroughs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2E3A45"/>
          </a:solidFill>
          <a:ln w="9525">
            <a:solidFill>
              <a:srgbClr val="3A48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77240" y="4864608"/>
            <a:ext cx="384048" cy="384048"/>
          </a:xfrm>
          <a:prstGeom prst="ellipse">
            <a:avLst/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77724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8006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entire homes reach $190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532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premium segment: about 1.8x the overall median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72200" y="46634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2E3A45"/>
          </a:solidFill>
          <a:ln w="9525">
            <a:solidFill>
              <a:srgbClr val="3A48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400800" y="4864608"/>
            <a:ext cx="384048" cy="384048"/>
          </a:xfrm>
          <a:prstGeom prst="ellipse">
            <a:avLst/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40080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48006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 correlate weakly with price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5532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is longitude (r = -0.26): room type and location matter more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NYC PRICE ANALYSIS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2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023360" cy="4023360"/>
          </a:xfrm>
          <a:prstGeom prst="ellipse">
            <a:avLst/>
          </a:prstGeom>
          <a:solidFill>
            <a:srgbClr val="2E3A45"/>
          </a:solidFill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097280" y="5120640"/>
            <a:ext cx="2560320" cy="2560320"/>
          </a:xfrm>
          <a:prstGeom prst="ellipse">
            <a:avLst/>
          </a:prstGeom>
          <a:solidFill>
            <a:srgbClr val="3D3F46"/>
          </a:solidFill>
          <a:ln w="12700">
            <a:solidFill>
              <a:srgbClr val="3D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731520" y="731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found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10058400" cy="1645920"/>
          </a:xfrm>
          <a:prstGeom prst="roundRect">
            <a:avLst>
              <a:gd name="adj" fmla="val 3333"/>
            </a:avLst>
          </a:prstGeom>
          <a:solidFill>
            <a:srgbClr val="2E3A45"/>
          </a:solidFill>
          <a:ln w="9525">
            <a:solidFill>
              <a:srgbClr val="3A48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05840" y="233172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>
                <a:solidFill>
                  <a:srgbClr val="FFFFFF"/>
                </a:solidFill>
                <a:latin typeface="Calibri"/>
              </a:rPr>
              <a:t>This EDA turned a messy 48,895-listing Airbnb dataset into a clean, machine-learning-ready dataset of 48,631 listings. It showed that price is driven mainly by room type and location, with Manhattan entire homes as the premium segment at a $190 median nightly price.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•  Exploratory Data Analysis  •  Business Insight Generation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2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023360" cy="4023360"/>
          </a:xfrm>
          <a:prstGeom prst="ellipse">
            <a:avLst/>
          </a:prstGeom>
          <a:solidFill>
            <a:srgbClr val="2E3A45"/>
          </a:solidFill>
          <a:ln w="12700">
            <a:solidFill>
              <a:srgbClr val="2E3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5120640"/>
            <a:ext cx="2560320" cy="2560320"/>
          </a:xfrm>
          <a:prstGeom prst="ellipse">
            <a:avLst/>
          </a:prstGeom>
          <a:solidFill>
            <a:srgbClr val="3D3F46"/>
          </a:solidFill>
          <a:ln w="12700">
            <a:solidFill>
              <a:srgbClr val="3D3F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4206240"/>
            <a:ext cx="3108960" cy="3108960"/>
          </a:xfrm>
          <a:prstGeom prst="ellipse">
            <a:avLst/>
          </a:prstGeom>
          <a:solidFill>
            <a:srgbClr val="222B33">
              <a:alpha val="0"/>
            </a:srgbClr>
          </a:solidFill>
          <a:ln w="177800">
            <a:solidFill>
              <a:srgbClr val="3A48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058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822960" cy="4572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560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2E3A45"/>
          </a:solidFill>
          <a:ln w="9525">
            <a:solidFill>
              <a:srgbClr val="3A48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337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5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$105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840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nightly price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32918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2E3A45"/>
          </a:solidFill>
          <a:ln w="9525">
            <a:solidFill>
              <a:srgbClr val="3A48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46120" y="3337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6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$190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3840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entire homes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32918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2E3A45"/>
          </a:solidFill>
          <a:ln w="9525">
            <a:solidFill>
              <a:srgbClr val="3A48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60720" y="3337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5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48,631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3840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listings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SHAILESH PAWAR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NYC Price Analysis  |  EDA Project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0" y="470916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222B33"/>
          </a:solidFill>
          <a:ln w="12700">
            <a:solidFill>
              <a:srgbClr val="5EE6D8"/>
            </a:solidFill>
            <a:prstDash val="solid"/>
          </a:ln>
        </p:spPr>
      </p:sp>
      <p:sp>
        <p:nvSpPr>
          <p:cNvPr id="22" name="Text 20">
            <a:hlinkClick r:id="rId3" action="ppaction://hlinksldjump"/>
          </p:cNvPr>
          <p:cNvSpPr txBox="1"/>
          <p:nvPr/>
        </p:nvSpPr>
        <p:spPr>
          <a:xfrm>
            <a:off x="8046720" y="4709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Back to Start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01200" y="470916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24" name="Text 22">
            <a:hlinkClick r:id="rId4" action="ppaction://hlinksldjump"/>
          </p:cNvPr>
          <p:cNvSpPr txBox="1"/>
          <p:nvPr/>
        </p:nvSpPr>
        <p:spPr>
          <a:xfrm>
            <a:off x="9601200" y="4709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Key Insights</a:t>
            </a:r>
            <a:endParaRPr lang="en-US" sz="1200" dirty="0"/>
          </a:p>
        </p:txBody>
      </p:sp>
      <p:pic>
        <p:nvPicPr>
          <p:cNvPr id="25" name="Image 0" descr="preencoded.png">
            <a:hlinkClick r:id="rId5" tooltip="https://linkedin.com/in/shaileshpawar-cse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577840"/>
            <a:ext cx="365760" cy="365760"/>
          </a:xfrm>
          <a:prstGeom prst="rect">
            <a:avLst/>
          </a:prstGeom>
        </p:spPr>
      </p:pic>
      <p:sp>
        <p:nvSpPr>
          <p:cNvPr id="26" name="Text 23">
            <a:hlinkClick r:id="rId5" tooltip="https://linkedin.com/in/shaileshpawar-cse"/>
          </p:cNvPr>
          <p:cNvSpPr txBox="1"/>
          <p:nvPr/>
        </p:nvSpPr>
        <p:spPr>
          <a:xfrm>
            <a:off x="1188720" y="5577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5EE6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tooltip="https://linkedin.com/in/shaileshpawar-cs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linkedin.com/in/shaileshpawar-cse</a:t>
            </a:r>
            <a:endParaRPr lang="en-US" sz="1200" dirty="0"/>
          </a:p>
        </p:txBody>
      </p:sp>
      <p:pic>
        <p:nvPicPr>
          <p:cNvPr id="27" name="Image 1" descr="preencoded.png">
            <a:hlinkClick r:id="rId7" tooltip="https://github.com/Shailesh-Pawar-18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560" y="5577840"/>
            <a:ext cx="365760" cy="365760"/>
          </a:xfrm>
          <a:prstGeom prst="rect">
            <a:avLst/>
          </a:prstGeom>
        </p:spPr>
      </p:pic>
      <p:sp>
        <p:nvSpPr>
          <p:cNvPr id="28" name="Text 24">
            <a:hlinkClick r:id="rId7" tooltip="https://github.com/Shailesh-Pawar-18"/>
          </p:cNvPr>
          <p:cNvSpPr txBox="1"/>
          <p:nvPr/>
        </p:nvSpPr>
        <p:spPr>
          <a:xfrm>
            <a:off x="4937760" y="5577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5EE6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tooltip="https://github.com/Shailesh-Pawar-18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github.com/Shailesh-Pawar-18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1471</Words>
  <Application>Microsoft Office PowerPoint</Application>
  <PresentationFormat>Widescreen</PresentationFormat>
  <Paragraphs>342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Airbnb NYC Price Analysis - EDA</dc:title>
  <dc:subject>PptxGenJS Presentation</dc:subject>
  <dc:creator>Shailesh Pawar</dc:creator>
  <cp:lastModifiedBy>Microsoft account</cp:lastModifiedBy>
  <cp:revision>3</cp:revision>
  <dcterms:created xsi:type="dcterms:W3CDTF">2026-10-23T17:21:27Z</dcterms:created>
  <dcterms:modified xsi:type="dcterms:W3CDTF">2026-10-25T10:46:51Z</dcterms:modified>
</cp:coreProperties>
</file>